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62631-08AE-4681-A313-FD960119FA6A}" v="33" dt="2026-07-21T05:08:19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57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5144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375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1328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9659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096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0067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7104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A54C80-263E-416B-A8E0-580EDEADCBDC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5374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4052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523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1623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66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13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084" y="100131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CSA0508-Database Management Systems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550650" y="2423160"/>
            <a:ext cx="87139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Components of a DBMS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84" y="4088670"/>
            <a:ext cx="2815548" cy="1928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PRESENTED BY :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Hema Priya T</a:t>
            </a:r>
          </a:p>
          <a:p>
            <a:pPr marL="0" indent="0">
              <a:buNone/>
            </a:pPr>
            <a:r>
              <a:rPr lang="en-US" sz="1600" b="1" dirty="0"/>
              <a:t> 192524467</a:t>
            </a:r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8" name="Picture 7" descr="Database Foundations Explained: DBMS Architecture, Types &amp; Data Systems ...">
            <a:extLst>
              <a:ext uri="{FF2B5EF4-FFF2-40B4-BE49-F238E27FC236}">
                <a16:creationId xmlns:a16="http://schemas.microsoft.com/office/drawing/2014/main" id="{9C58D5E4-DAA7-1FDA-0C31-465D9BB8E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856" y="2002633"/>
            <a:ext cx="4455494" cy="4014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0805" y="720467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DBMS?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04163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Database Management System (DBMS) is software that allows users to define, create, maintain, and control access to a database.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acts as an interface between the user/application and the physical database — users never interact with raw disk files directly.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provides features like data security, backup, concurrent access, and consistent querying.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DBMS software includes MySQL, Oracle Database, PostgreSQL, and Microsoft SQL Server.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03635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Components of a DBMS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0515" y="204584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DBMS is made up of several cooperating software components, not one single program. The three major components are: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381242"/>
              </p:ext>
            </p:extLst>
          </p:nvPr>
        </p:nvGraphicFramePr>
        <p:xfrm>
          <a:off x="730515" y="3429000"/>
          <a:ext cx="10881360" cy="2194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Role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Processor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Interprets and executes the queries submitted by the user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Manager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how and where data is physically stored on disk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Manager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Ensures every transaction is safe, consistent, and reliable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66206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Processor: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97135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Interprets the queries given by the user in a high-level language like SQL.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Converts them into low-level instructions that the database engine understands.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Made up of four main parts: Parser, Translator, Optimizer, and Evaluator.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part hands its output to the next, forming a pipeline from raw query text to final result.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name FROM Students WHERE marks &gt; 90; passes through Parser → Translator → Optimizer → Evaluator before returning matching student names.</a:t>
            </a:r>
            <a:endParaRPr lang="en-US" sz="2000" dirty="0"/>
          </a:p>
        </p:txBody>
      </p:sp>
      <p:pic>
        <p:nvPicPr>
          <p:cNvPr id="7" name="Picture 6" descr="PPT - Project Part II PowerPoint Presentation, free download - ID:3343915">
            <a:extLst>
              <a:ext uri="{FF2B5EF4-FFF2-40B4-BE49-F238E27FC236}">
                <a16:creationId xmlns:a16="http://schemas.microsoft.com/office/drawing/2014/main" id="{118E2904-85A5-881B-6F97-0846CBB2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824" y="1828800"/>
            <a:ext cx="3185328" cy="3084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7415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3864" y="2155371"/>
            <a:ext cx="10881360" cy="229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first component that a query passes through.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Checks the syntax of the query — whether it follows correct SQL grammar.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Checks the semantics — whether the tables/columns mentioned actually exist in the schema.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any error is found, it is reported back to the user immediately, before any execution begins.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FRM Students; is rejected by the parser because "FRM" is not valid SQL syntax (should be FROM).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9742" y="819443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Translator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41960" y="1944984"/>
            <a:ext cx="6845607" cy="24874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Converts the parsed query into an internal form the DBMS can work with.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internal form is usually relational algebra — a mathematical notation for query operations.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Makes it easier for the next stage (the optimizer) to analyze and rearrange operations for efficiency.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name FROM Students WHERE marks &gt; 90; is translated into relational algebra as π name (σ marks&gt;90 (Students)).</a:t>
            </a:r>
            <a:endParaRPr lang="en-US" sz="2000" dirty="0"/>
          </a:p>
        </p:txBody>
      </p:sp>
      <p:pic>
        <p:nvPicPr>
          <p:cNvPr id="7" name="Picture 6" descr="PPT - Chapter 13: Query Processing PowerPoint Presentation, free ...">
            <a:extLst>
              <a:ext uri="{FF2B5EF4-FFF2-40B4-BE49-F238E27FC236}">
                <a16:creationId xmlns:a16="http://schemas.microsoft.com/office/drawing/2014/main" id="{CBFD5141-E3C1-59BD-1646-54E2D78CE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13" t="1879" r="10981" b="5783"/>
          <a:stretch>
            <a:fillRect/>
          </a:stretch>
        </p:blipFill>
        <p:spPr>
          <a:xfrm>
            <a:off x="7188089" y="1845630"/>
            <a:ext cx="4561951" cy="30145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21685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1772" y="24908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query can be executed in many different ways. The optimizer estimates the cost of each possible plan and picks the cheapest one. Example — finding students with marks &gt; 90 in a 10,000-row table: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335410"/>
              </p:ext>
            </p:extLst>
          </p:nvPr>
        </p:nvGraphicFramePr>
        <p:xfrm>
          <a:off x="655320" y="3948500"/>
          <a:ext cx="10881360" cy="164592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Plan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table scan (check every row)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reads all 10,000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index on 'marks' column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reads only matching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9053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/ Executor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0515" y="2329207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Takes the optimized execution plan and runs it step-by-step against the actual database, producing the final result set. Example output for the student marks query: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447401"/>
              </p:ext>
            </p:extLst>
          </p:nvPr>
        </p:nvGraphicFramePr>
        <p:xfrm>
          <a:off x="868680" y="3834953"/>
          <a:ext cx="10881360" cy="164592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925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Manager: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0560" y="2054887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bridge between the data stored on physical disk and the queries/programs requesting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Hides all physical storage details from the rest of the system — users never need to know how data is laid out on disk.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components: Authorization &amp; Integrity Manager, Transaction Manager Interface, File Manager, and Buffer Manager.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SELECT * FROM Orders, the Storage Manager locates the right disk blocks, loads them into memory, and hands the rows back — without you knowing the file layout.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9596" y="822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Integrity Manager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01399" y="1989071"/>
            <a:ext cx="6112077" cy="213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Checks whether the user has permission to perform the requested operation (read, write, delete).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Enforces integrity constraints such as primary keys, foreign keys, and NOT NULL rules.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Prevents unauthorized access and invalid data entry before it reaches storage.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like Age &gt;= 18 on a Voters table blocks any INSERT/UPDATE that tries to store Age = 15.</a:t>
            </a:r>
            <a:endParaRPr lang="en-US" sz="2000" dirty="0"/>
          </a:p>
        </p:txBody>
      </p:sp>
      <p:pic>
        <p:nvPicPr>
          <p:cNvPr id="7" name="Picture 6" descr="URL Authorization, Icon In Line Design. URL Authorization, Access ...">
            <a:extLst>
              <a:ext uri="{FF2B5EF4-FFF2-40B4-BE49-F238E27FC236}">
                <a16:creationId xmlns:a16="http://schemas.microsoft.com/office/drawing/2014/main" id="{7D1046C5-C59A-CD91-4B7A-9DA2C952E6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8" t="7735" r="4788" b="11445"/>
          <a:stretch>
            <a:fillRect/>
          </a:stretch>
        </p:blipFill>
        <p:spPr>
          <a:xfrm>
            <a:off x="730180" y="2193053"/>
            <a:ext cx="3580563" cy="23789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5320" y="866669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0757" y="204885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Manages the allocation of disk space and organizes data into files and pages, using structures such as: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573753"/>
              </p:ext>
            </p:extLst>
          </p:nvPr>
        </p:nvGraphicFramePr>
        <p:xfrm>
          <a:off x="780757" y="2892919"/>
          <a:ext cx="10881360" cy="309841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6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6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unordered storage — fast inserts, slow searches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6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stored in order — faster range queries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6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 tree index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 lookups and range queries on large tables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4757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8197" y="205338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Disk access is slow compared to memory access.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Loads pages of data from disk into main memory, called the buffer pool.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Decides which pages to keep cached and which to remove, using a replacement policy (e.g., Least Recently Used).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the number of disk reads/writes needed, speeding up overall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Customers page is requested twice in a row, the second request is served instantly from the buffer pool — no disk access needed.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Manager: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0757" y="2044839"/>
            <a:ext cx="705695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transaction is a sequence of operations treated as a single logical unit of work.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Transaction Manager ensures the database stays correct even during failures or concurrent access.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enforces four guarantees, known as the ACID properties.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₹500 from Account A to Account B involves two steps (debit A, credit B) — both must succeed together, or neither should happen.</a:t>
            </a:r>
            <a:endParaRPr lang="en-US" sz="2000" dirty="0"/>
          </a:p>
        </p:txBody>
      </p:sp>
      <p:pic>
        <p:nvPicPr>
          <p:cNvPr id="7" name="Picture 6" descr="Lecture 8: Transactions ACID in SQL — DASC 5410 - Data and Database ...">
            <a:extLst>
              <a:ext uri="{FF2B5EF4-FFF2-40B4-BE49-F238E27FC236}">
                <a16:creationId xmlns:a16="http://schemas.microsoft.com/office/drawing/2014/main" id="{C77C6C83-7930-E689-7DB3-2233EEFA6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4" y="1828800"/>
            <a:ext cx="3959437" cy="2954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Properties: Atomicity &amp; Consistency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346608"/>
              </p:ext>
            </p:extLst>
          </p:nvPr>
        </p:nvGraphicFramePr>
        <p:xfrm>
          <a:off x="640080" y="1371598"/>
          <a:ext cx="10881360" cy="427557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5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transaction is all-or-nothing.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credit step fails after the debit, the debit is rolled back too.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5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transaction moves the database from one valid state to another.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balance across A and B stays the same before and after the transfer.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Properties: Isolation &amp; Durability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034007"/>
              </p:ext>
            </p:extLst>
          </p:nvPr>
        </p:nvGraphicFramePr>
        <p:xfrm>
          <a:off x="640080" y="1371599"/>
          <a:ext cx="10881360" cy="41449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1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transactions don't see each other's uncommitted changes.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people booking the last seat won't both succeed.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committed, changes survive even a crash.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confirmed transfer stays recorded even if the server restarts.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5320" y="838033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Transactions Matter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214884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users may access the database at the same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Systems can crash or lose power unexpectedly.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proper transaction management, data could become inconsistent or corrupted.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Transaction Manager protects against both concurrency issues and system failures.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store handling thousands of simultaneous orders relies on transactions so no two customers are ever sold the same last item in stock.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9645" y="89932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Work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99622"/>
            <a:ext cx="6675120" cy="4126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query passes through all three components before a result reaches the user: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User submits a query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Query Processor parses, optimizes, and plans execution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Transaction Manager wraps the operation as a safe transaction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Storage Manager reads/writes the actual data on disk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Result is returned to the user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3931920" cy="47548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589520" y="1371600"/>
            <a:ext cx="3931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 here (flow diagram / process arrows)</a:t>
            </a:r>
            <a:endParaRPr lang="en-US" sz="1200" dirty="0"/>
          </a:p>
        </p:txBody>
      </p:sp>
      <p:pic>
        <p:nvPicPr>
          <p:cNvPr id="7" name="Picture 6" descr="Query Processing in SQL - GeeksforGeeks">
            <a:extLst>
              <a:ext uri="{FF2B5EF4-FFF2-40B4-BE49-F238E27FC236}">
                <a16:creationId xmlns:a16="http://schemas.microsoft.com/office/drawing/2014/main" id="{327977CA-B043-5432-C0ED-301ABCF9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166" y="1308274"/>
            <a:ext cx="4381081" cy="46503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9596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/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596" y="2011680"/>
            <a:ext cx="6675120" cy="371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DBMS is built from multiple cooperating software components.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Query Processor: interprets and executes queries.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Storage Manager: manages physical data storage.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 Manager: keeps data safe and consistent.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Together, they allow reliable, efficient database operations.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3931920" cy="47548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589520" y="1371600"/>
            <a:ext cx="3931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 here (database with checkmark)</a:t>
            </a:r>
            <a:endParaRPr lang="en-US" sz="1200" dirty="0"/>
          </a:p>
        </p:txBody>
      </p:sp>
      <p:pic>
        <p:nvPicPr>
          <p:cNvPr id="7" name="Picture 6" descr="Database Icon Flat">
            <a:extLst>
              <a:ext uri="{FF2B5EF4-FFF2-40B4-BE49-F238E27FC236}">
                <a16:creationId xmlns:a16="http://schemas.microsoft.com/office/drawing/2014/main" id="{1F2B1DD8-7ADE-618D-A4D3-3346810E7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739" y="1203279"/>
            <a:ext cx="4877481" cy="48774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</TotalTime>
  <Words>1294</Words>
  <Application>Microsoft Office PowerPoint</Application>
  <PresentationFormat>Widescreen</PresentationFormat>
  <Paragraphs>161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 PRIYA</cp:lastModifiedBy>
  <cp:revision>2</cp:revision>
  <dcterms:created xsi:type="dcterms:W3CDTF">2026-07-21T04:45:32Z</dcterms:created>
  <dcterms:modified xsi:type="dcterms:W3CDTF">2026-07-21T05:24:03Z</dcterms:modified>
</cp:coreProperties>
</file>